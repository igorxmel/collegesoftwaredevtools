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лист оформлен по ГОСТ 7.32: организация, тема, исполнитель, проверяющий, город и год.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— ИИ-ассистент разработчика, класс AI-assisted development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кадр: агент выполняет полный цикл — чтение, правка, тест.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45720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Министерство общего и профессионального образования Ростовской области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7772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Государственное бюджетное профессиональное образовательное учреждение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Ростовской области «Ростовский-на-Дону колледж связи и информатики»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779008" y="1691640"/>
            <a:ext cx="640080" cy="640080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79008" y="171907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0592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ЗАНЯТИЕ №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Инструментальное средство разработки ПО</a:t>
            </a:r>
            <a:endParaRPr lang="en-US" sz="30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(Anthropic)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2452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возможностей и место в жизненном цикле ПО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709160"/>
            <a:ext cx="4873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6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pPr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4 курса, группа ИС-42</a:t>
            </a:r>
            <a:pPr algn="r" indent="0" marL="0">
              <a:lnSpc>
                <a:spcPts val="1900"/>
              </a:lnSpc>
              <a:buNone/>
            </a:pPr>
            <a:endParaRPr lang="en-US" sz="1300" dirty="0"/>
          </a:p>
          <a:p>
            <a:pPr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 «Информационные системы и программирование»</a:t>
            </a:r>
            <a:endParaRPr lang="en-US" sz="1300" dirty="0"/>
          </a:p>
          <a:p>
            <a:pPr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Холкин Егор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709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6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Проверил: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Черевко А. Д.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60807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Ростов-на-Дону,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СВЕДЕНИЯ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Claude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инструментальное средство разработки ПО на базе большой языковой модели (LLM). Оно работает как ИИ-ассистент программиста: понимает текст задачи на естественном языке, читает исходный код проекта, вносит правки в файлы, запускает команды сборки и тестирования.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классификации CASE-средств Claude относится к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интеллектуальным средствам поддержки разработки (AI-assisted development tools)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тому же классу, что GitHub Copilot, Cursor, JetBrains AI Assistant.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отличие от обычного автодополнения кода — агентный режим: инструмент выполняет многошаговую задачу целиком, а не подсказывает отдельную строку.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1417320"/>
            <a:ext cx="4206240" cy="4160520"/>
          </a:xfrm>
          <a:prstGeom prst="roundRect">
            <a:avLst>
              <a:gd name="adj" fmla="val 1978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911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PBC (США)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выпуска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март 2023 (Claude 1)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продукта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191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облачный сервис + CLI-клиент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проприетарная, коммерческая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 кода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4471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 все популярные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общения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5111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 и др. (мультиязычный)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69848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ПРОДУКТА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каком виде поставляется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19072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Claude.ai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Веб-версия и мобильные приложения. Диалог, работа с файлами, генерация документов.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719072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286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Консольный агент. Запускается в терминале внутри каталога проекта, правит файлы и делает коммиты.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1719072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590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Desktop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286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Настольное приложение для Windows, macOS и Linux — тот же агент без терминала.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005072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Плагины для IDE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572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Расширения для VS Code и JetBrains: правки видны прямо в редакторе.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25112" y="374904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4005072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99432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02352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572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HTTP-интерфейс для встраивания модели в собственные приложения. Оплата по токенам.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01584" y="3749040"/>
            <a:ext cx="3502152" cy="2011680"/>
          </a:xfrm>
          <a:prstGeom prst="roundRect">
            <a:avLst>
              <a:gd name="adj" fmla="val 4091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75904" y="4005072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7590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78824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MCP-коннекторы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4572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подключение к Git, БД, Jira, файловым хранилищам.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069848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Поддерживаемые функции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Генерация кода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928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модулей, классов и целых проектов по текстовому описанию задачи.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572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с кодовой базой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8928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и анализ репозитория, поиск по проекту, редактирование нескольких файлов сразу.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729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08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Отладка и рефакторинг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930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причин ошибок по стек-трейсу, оптимизация и переписывание кода.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31729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108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Тестирование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4930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Написание модульных тестов, запуск сборки и разбор упавших тестов.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7731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Документация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0932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Комментарии, README, описание API, техническое задание, отчёты.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754880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47731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с Git и CLI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50932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Ветки, коммиты, pull request, выполнение команд оболочки и SQL-запросов.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69848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ЭКРАНА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— работа в терминале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863840" cy="4617720"/>
          </a:xfrm>
          <a:prstGeom prst="roundRect">
            <a:avLst>
              <a:gd name="adj" fmla="val 1188"/>
            </a:avLst>
          </a:prstGeom>
          <a:solidFill>
            <a:srgbClr val="1C1B19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7863840" cy="347472"/>
          </a:xfrm>
          <a:prstGeom prst="rect">
            <a:avLst/>
          </a:prstGeom>
          <a:solidFill>
            <a:srgbClr val="323029"/>
          </a:solidFill>
          <a:ln w="12700">
            <a:solidFill>
              <a:srgbClr val="3230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72768"/>
            <a:ext cx="128016" cy="128016"/>
          </a:xfrm>
          <a:prstGeom prst="ellipse">
            <a:avLst/>
          </a:prstGeom>
          <a:solidFill>
            <a:srgbClr val="E06C5B"/>
          </a:solidFill>
          <a:ln w="12700">
            <a:solidFill>
              <a:srgbClr val="E06C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572768"/>
            <a:ext cx="128016" cy="128016"/>
          </a:xfrm>
          <a:prstGeom prst="ellipse">
            <a:avLst/>
          </a:prstGeom>
          <a:solidFill>
            <a:srgbClr val="D4A24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7864" y="1572768"/>
            <a:ext cx="128016" cy="128016"/>
          </a:xfrm>
          <a:prstGeom prst="ellipse">
            <a:avLst/>
          </a:prstGeom>
          <a:solidFill>
            <a:srgbClr val="6FA96F"/>
          </a:solidFill>
          <a:ln w="12700">
            <a:solidFill>
              <a:srgbClr val="6FA9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1499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egor@dev: ~/projects/spring-api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965960"/>
            <a:ext cx="7315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15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Welcome to Claude Code  v2.4.1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cwd: /home/egor/projects/spring-api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добавь эндпоинт GET /api/v1/health и тест к нему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7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Read(src/.../HealthController.java)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прочитано 42 строки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7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Update(HealthController.java)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9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+18 строк, -0 строк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7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Write(HealthControllerTest.java)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9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создан новый файл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7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Bash(mvn -q test)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9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Tests run: 24,  Failures: 0,  Errors: 0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Готово. Эндпоинт добавлен, все тесты проходят.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32520" y="1463040"/>
            <a:ext cx="2907792" cy="4617720"/>
          </a:xfrm>
          <a:prstGeom prst="roundRect">
            <a:avLst>
              <a:gd name="adj" fmla="val 2830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0684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 кадра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219456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поставлена на русском языке одной строкой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сам нашёл нужный файл в проекте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внесены прямо в исходники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модульный тест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Maven запущена, результат проверен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ЭКРАНА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Веб-интерфейс claude.ai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4617720"/>
          </a:xfrm>
          <a:prstGeom prst="roundRect">
            <a:avLst>
              <a:gd name="adj" fmla="val 1188"/>
            </a:avLst>
          </a:prstGeom>
          <a:solidFill>
            <a:srgbClr val="FAF9F5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10512"/>
            <a:ext cx="2468880" cy="4270248"/>
          </a:xfrm>
          <a:prstGeom prst="rect">
            <a:avLst/>
          </a:prstGeom>
          <a:solidFill>
            <a:srgbClr val="F0EDE5"/>
          </a:solidFill>
          <a:ln w="12700">
            <a:solidFill>
              <a:srgbClr val="F0E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11091672" cy="347472"/>
          </a:xfrm>
          <a:prstGeom prst="rect">
            <a:avLst/>
          </a:prstGeom>
          <a:solidFill>
            <a:srgbClr val="EDE9E0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499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claude.ai/chat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чат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9C9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ПОСЛЕДНИЕ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Рефакторинг сервиса заказов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БД для склада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ошибки 500 в Nginx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для REST-контроллера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0574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E9E1D8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1214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 миграцию Liquibase для таблицы orders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743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— ниже changelog в формате XML. Добавлен внешний ключ на customers и индекс по created_at: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3291840"/>
            <a:ext cx="7955280" cy="1874520"/>
          </a:xfrm>
          <a:prstGeom prst="roundRect">
            <a:avLst>
              <a:gd name="adj" fmla="val 2927"/>
            </a:avLst>
          </a:prstGeom>
          <a:solidFill>
            <a:srgbClr val="272521"/>
          </a:solidFill>
          <a:ln w="12700">
            <a:solidFill>
              <a:srgbClr val="27252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3456432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&lt;changeSet id="2026-09-03-01" author="egor"&gt;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&lt;createTable tableName="orders"&gt;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&lt;column name="id" type="BIGSERIAL"/&gt;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&lt;column name="customer_id" type="BIGINT"/&gt;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&lt;column name="created_at" type="TIMESTAMP"/&gt;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&lt;/createTable&gt;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&lt;/changeSet&gt;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5349240"/>
            <a:ext cx="79552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54223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Введите сообщение…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ЭКРАНА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Обращение к Claude API из кода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949440" cy="4617720"/>
          </a:xfrm>
          <a:prstGeom prst="roundRect">
            <a:avLst>
              <a:gd name="adj" fmla="val 1188"/>
            </a:avLst>
          </a:prstGeom>
          <a:solidFill>
            <a:srgbClr val="1C1B19"/>
          </a:solidFill>
          <a:ln w="12700">
            <a:solidFill>
              <a:srgbClr val="3A38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9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api_key=os.environ["ANTHROPIC_API_KEY"]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client.messages.create(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D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model="claude-sonnet-5",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D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max_tokens=1024,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D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"role": "user",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D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"content": "Разбери SQL-запрос"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print(msg.content[0].text)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18120" y="1463040"/>
            <a:ext cx="3822192" cy="2194560"/>
          </a:xfrm>
          <a:prstGeom prst="roundRect">
            <a:avLst>
              <a:gd name="adj" fmla="val 3750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1664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нужен API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2121408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Позволяет встроить модель в собственный сервис: автоматическая обработка обращений, разбор логов, генерация отчётов внутри своего backend-приложения.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3886200"/>
            <a:ext cx="3822192" cy="2194560"/>
          </a:xfrm>
          <a:prstGeom prst="roundRect">
            <a:avLst>
              <a:gd name="adj" fmla="val 3750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4087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 и интеграции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4544568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TypeScript, Java, Go, C#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Bedrock, Google Vertex AI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CI/CD-конвейеры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КОНТРОЛЬНЫЕ ВОПРОСЫ 1-3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Разработчик, устройства, ОС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3886200"/>
          </a:xfrm>
          <a:prstGeom prst="roundRect">
            <a:avLst>
              <a:gd name="adj" fmla="val 2350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55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67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разработчик?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Anthropic PBC, основана в 2021 году в Сан-Франциско (США) бывшими сотрудниками OpenAI. Форма — public benefit corporation. Первая версия Claude выпущена в марте 2023 года.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502152" cy="3886200"/>
          </a:xfrm>
          <a:prstGeom prst="roundRect">
            <a:avLst>
              <a:gd name="adj" fmla="val 2350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737360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1755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267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каких устройств?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78892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Персональные компьютеры и ноутбуки (x64 и ARM64, от 4 ГБ ОЗУ), смартфоны и планшеты, серверы — через API. Все вычисления выполняются на серверах Anthropic, поэтому мощное «железо» не требуется, но нужен интернет.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02152" cy="3886200"/>
          </a:xfrm>
          <a:prstGeom prst="roundRect">
            <a:avLst>
              <a:gd name="adj" fmla="val 2350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1737360"/>
            <a:ext cx="384048" cy="384048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5904" y="1755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267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какой ОС?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78892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Кроссплатформенное решение. Claude Code: macOS 13+, Windows 10+, Linux (Ubuntu 20.04+, Debian 10+, Alpine 3.19+). Мобильные приложения: iOS и Android. Веб-версия — в любом браузере.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6509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Обязательное требование к рабочему месту — постоянное подключение к интернету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69848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КОНТРОЛЬНЫЙ ВОПРОС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Свободное или коммерческое ПО?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3619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Коммерческий проприетарный продукт с бесплатным базовым тарифом (freemium)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700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не свободное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 модели и её веса закрыты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 регулируется пользовательским соглашением, а не лицензией GPL/MIT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нельзя скачать и запустить на своём сервере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прекращается при отзыве ключа или окончании подписки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46888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26700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распространения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31546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3136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0 $ — базовый доступ с ограничением по числу запросов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703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3685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20 $ в месяц — для одного пользователя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4251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42336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100-200 $ в месяц — повышенные лимиты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4800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Enterprise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47823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за место, администрирование и SSO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5349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53309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поштучная оплата за обработанные токены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4476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и Model Context Protocol опубликованы на GitHub под свободными лицензиями — закрыта только сама модель.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9848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КОНТРОЛЬНЫЙ ВОПРОС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Место в жизненном цикле ПО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19072" cy="1051560"/>
          </a:xfrm>
          <a:prstGeom prst="roundRect">
            <a:avLst>
              <a:gd name="adj" fmla="val 6957"/>
            </a:avLst>
          </a:prstGeom>
          <a:solidFill>
            <a:srgbClr val="EFEBE3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64592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требований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Формулирование ТЗ, уточнение требований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04872" y="1600200"/>
            <a:ext cx="1719072" cy="1051560"/>
          </a:xfrm>
          <a:prstGeom prst="roundRect">
            <a:avLst>
              <a:gd name="adj" fmla="val 6957"/>
            </a:avLst>
          </a:prstGeom>
          <a:solidFill>
            <a:srgbClr val="EFEBE3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78024" y="164592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Проекти-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рование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450592" y="274320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Схемы БД, архитектура, выбор решений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1104" y="1600200"/>
            <a:ext cx="1719072" cy="1051560"/>
          </a:xfrm>
          <a:prstGeom prst="roundRect">
            <a:avLst>
              <a:gd name="adj" fmla="val 6957"/>
            </a:avLst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4256" y="164592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(кодирование)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306824" y="274320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Написание и правка исходного кода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17336" y="1600200"/>
            <a:ext cx="1719072" cy="1051560"/>
          </a:xfrm>
          <a:prstGeom prst="roundRect">
            <a:avLst>
              <a:gd name="adj" fmla="val 6957"/>
            </a:avLst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0488" y="164592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Тестиро-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вание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63056" y="274320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Модульные тесты, разбор ошибок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73568" y="1600200"/>
            <a:ext cx="1719072" cy="1051560"/>
          </a:xfrm>
          <a:prstGeom prst="roundRect">
            <a:avLst>
              <a:gd name="adj" fmla="val 6957"/>
            </a:avLst>
          </a:prstGeom>
          <a:solidFill>
            <a:srgbClr val="EFEBE3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164592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019288" y="274320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 развёртывания, Docker, CI/CD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29800" y="1600200"/>
            <a:ext cx="1719072" cy="1051560"/>
          </a:xfrm>
          <a:prstGeom prst="roundRect">
            <a:avLst>
              <a:gd name="adj" fmla="val 6957"/>
            </a:avLst>
          </a:prstGeom>
          <a:solidFill>
            <a:srgbClr val="EFEBE3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02952" y="164592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Сопрово-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ждение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274320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Рефакторинг, доработки, документация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256032" cy="146304"/>
          </a:xfrm>
          <a:prstGeom prst="rect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005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этапы применения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0" y="4069080"/>
            <a:ext cx="256032" cy="146304"/>
          </a:xfrm>
          <a:prstGeom prst="rect">
            <a:avLst/>
          </a:prstGeom>
          <a:solidFill>
            <a:srgbClr val="EFEBE3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вспомогательное применение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F5F3EE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690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охватывает весь жизненный цикл ПО, но основным этапом применения является реализация (кодирование) и тестирование. По модели ISO/IEC 12207 инструмент относится к процессам разработки и сопровождения; в водопадной и итеративной моделях используется на всех итерациях как средство автоматизации рутинных операций программиста.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698480" y="6355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2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рассмотрения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84832"/>
            <a:ext cx="146304" cy="146304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 средства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591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5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ИИ-ассистент разработки — современное CASE-средство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2084832"/>
            <a:ext cx="146304" cy="146304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Разработчик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3591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5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PBC, США, продукт выпускается с 2023 года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319272"/>
            <a:ext cx="146304" cy="146304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246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Платформы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935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5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Linux, iOS, Android, веб и API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319272"/>
            <a:ext cx="146304" cy="146304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246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Лицензия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5935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5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проприетарная коммерческая, есть бесплатный тариф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553712"/>
            <a:ext cx="146304" cy="146304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480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Этап ЖЦ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28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5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и тестирование, частично все остальные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553712"/>
            <a:ext cx="146304" cy="146304"/>
          </a:xfrm>
          <a:prstGeom prst="ellipse">
            <a:avLst/>
          </a:prstGeom>
          <a:solidFill>
            <a:srgbClr val="C15F3C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480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Практическая польза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828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5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времени на рутинный код, тесты и документацию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15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2026-09-03T07:47:27Z</dcterms:created>
  <dcterms:modified xsi:type="dcterms:W3CDTF">2026-09-03T07:47:27Z</dcterms:modified>
</cp:coreProperties>
</file>